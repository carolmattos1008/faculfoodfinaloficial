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98848" y="685800"/>
            <a:ext cx="3200400" cy="3200400"/>
          </a:xfrm>
          <a:prstGeom prst="roundRect">
            <a:avLst>
              <a:gd name="adj" fmla="val 11429"/>
            </a:avLst>
          </a:prstGeom>
          <a:solidFill>
            <a:srgbClr val="FBF6F2"/>
          </a:solidFill>
          <a:ln w="12700">
            <a:solidFill>
              <a:srgbClr val="FBF6F2"/>
            </a:solidFill>
            <a:prstDash val="solid"/>
          </a:ln>
        </p:spPr>
      </p:sp>
      <p:pic>
        <p:nvPicPr>
          <p:cNvPr id="3" name="Image 0" descr="/home/claude/v10/faculfood/assets/faculfood-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81728" y="822960"/>
            <a:ext cx="2834640" cy="288950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06908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FaculFood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9204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para retirada nos restaurantes do campus da PUC-Rio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534924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BD4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Peça, pague e retire. Sem fila.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21792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· LIA Impact Lab · Caso 4 — Restaurantes integrados   |   Equipe: [nomes da equipe]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09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Almoço na PUC é fila e incerteza</a:t>
            </a:r>
            <a:endParaRPr lang="en-US" sz="3600" dirty="0"/>
          </a:p>
        </p:txBody>
      </p:sp>
      <p:pic>
        <p:nvPicPr>
          <p:cNvPr id="4" name="Image 0" descr="/home/claude/v10/faculfood/assets/faculfood-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2840" y="274320"/>
            <a:ext cx="548640" cy="5577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920240"/>
            <a:ext cx="3474720" cy="356616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8DED3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68680" y="2240280"/>
            <a:ext cx="868680" cy="86868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50" y="245745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68680" y="3337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Fila no balcão</a:t>
            </a:r>
            <a:endParaRPr lang="en-US" sz="2200" dirty="0"/>
          </a:p>
        </p:txBody>
      </p:sp>
      <p:sp>
        <p:nvSpPr>
          <p:cNvPr id="9" name="Text 5"/>
          <p:cNvSpPr txBox="1"/>
          <p:nvPr/>
        </p:nvSpPr>
        <p:spPr>
          <a:xfrm>
            <a:off x="868680" y="388620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F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intervalo é curto e boa parte dele vai para a fila do pedido e do pagamento.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4297680" y="1920240"/>
            <a:ext cx="3474720" cy="3566160"/>
          </a:xfrm>
          <a:prstGeom prst="roundRect">
            <a:avLst>
              <a:gd name="adj" fmla="val 3947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617720" y="2240280"/>
            <a:ext cx="868680" cy="8686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4890" y="2457450"/>
            <a:ext cx="434340" cy="4343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617720" y="3337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Cardápio espalhado</a:t>
            </a:r>
            <a:endParaRPr lang="en-US" sz="2200" dirty="0"/>
          </a:p>
        </p:txBody>
      </p:sp>
      <p:sp>
        <p:nvSpPr>
          <p:cNvPr id="14" name="Text 9"/>
          <p:cNvSpPr txBox="1"/>
          <p:nvPr/>
        </p:nvSpPr>
        <p:spPr>
          <a:xfrm>
            <a:off x="4617720" y="388620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6D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restaurante tem o seu quadro ou papel. Não dá para comparar o que existe no campus.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8046720" y="1920240"/>
            <a:ext cx="3474720" cy="356616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8DED3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366760" y="2240280"/>
            <a:ext cx="868680" cy="86868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3930" y="2457450"/>
            <a:ext cx="434340" cy="4343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366760" y="3337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PUC sem visibilidade</a:t>
            </a:r>
            <a:endParaRPr lang="en-US" sz="2200" dirty="0"/>
          </a:p>
        </p:txBody>
      </p:sp>
      <p:sp>
        <p:nvSpPr>
          <p:cNvPr id="19" name="Text 13"/>
          <p:cNvSpPr txBox="1"/>
          <p:nvPr/>
        </p:nvSpPr>
        <p:spPr>
          <a:xfrm>
            <a:off x="8366760" y="388620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F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gestão não sabe quais concessionários engajam os alunos nem como o espaço é usado.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F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09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FUNCIONA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Visão do projeto</a:t>
            </a:r>
            <a:endParaRPr lang="en-US" sz="3600" dirty="0"/>
          </a:p>
        </p:txBody>
      </p:sp>
      <p:pic>
        <p:nvPicPr>
          <p:cNvPr id="4" name="Image 0" descr="/home/claude/v10/faculfood/assets/faculfood-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2840" y="274320"/>
            <a:ext cx="548640" cy="5577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874520"/>
            <a:ext cx="2606040" cy="374904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8DED3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417320" y="2148840"/>
            <a:ext cx="868680" cy="86868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490" y="236601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85800" y="32004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alvo</a:t>
            </a:r>
            <a:endParaRPr lang="en-US" sz="2100" dirty="0"/>
          </a:p>
        </p:txBody>
      </p:sp>
      <p:sp>
        <p:nvSpPr>
          <p:cNvPr id="9" name="Text 5"/>
          <p:cNvSpPr txBox="1"/>
          <p:nvPr/>
        </p:nvSpPr>
        <p:spPr>
          <a:xfrm>
            <a:off x="731520" y="374904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F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Alunos, professores e funcionários da PUC-Rio · Restaurantes do campus · Gestão da PUC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3136392" y="3520440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9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11" name="Shape 7"/>
          <p:cNvSpPr/>
          <p:nvPr/>
        </p:nvSpPr>
        <p:spPr>
          <a:xfrm>
            <a:off x="3364992" y="1874520"/>
            <a:ext cx="2606040" cy="3749040"/>
          </a:xfrm>
          <a:prstGeom prst="roundRect">
            <a:avLst>
              <a:gd name="adj" fmla="val 5263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233672" y="2148840"/>
            <a:ext cx="868680" cy="8686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0842" y="2366010"/>
            <a:ext cx="434340" cy="4343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502152" y="32004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Necessidades</a:t>
            </a:r>
            <a:endParaRPr lang="en-US" sz="2100" dirty="0"/>
          </a:p>
        </p:txBody>
      </p:sp>
      <p:sp>
        <p:nvSpPr>
          <p:cNvPr id="15" name="Text 10"/>
          <p:cNvSpPr txBox="1"/>
          <p:nvPr/>
        </p:nvSpPr>
        <p:spPr>
          <a:xfrm>
            <a:off x="3547872" y="374904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6D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 sem fila no intervalo · Saber o que tem e quanto custa · Vender mais com menos esforço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5952744" y="3520440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9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17" name="Shape 12"/>
          <p:cNvSpPr/>
          <p:nvPr/>
        </p:nvSpPr>
        <p:spPr>
          <a:xfrm>
            <a:off x="6181344" y="1874520"/>
            <a:ext cx="2606040" cy="374904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8DED3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050024" y="2148840"/>
            <a:ext cx="868680" cy="86868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7194" y="2366010"/>
            <a:ext cx="434340" cy="43434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318504" y="32004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</a:t>
            </a:r>
            <a:endParaRPr lang="en-US" sz="2100" dirty="0"/>
          </a:p>
        </p:txBody>
      </p:sp>
      <p:sp>
        <p:nvSpPr>
          <p:cNvPr id="21" name="Text 15"/>
          <p:cNvSpPr txBox="1"/>
          <p:nvPr/>
        </p:nvSpPr>
        <p:spPr>
          <a:xfrm>
            <a:off x="6364224" y="374904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F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 pedidos para retirada: busca por desejo, Pix, status do pedido, alarme de pronto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8769096" y="3520440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9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23" name="Shape 17"/>
          <p:cNvSpPr/>
          <p:nvPr/>
        </p:nvSpPr>
        <p:spPr>
          <a:xfrm>
            <a:off x="8997696" y="1874520"/>
            <a:ext cx="2606040" cy="3749040"/>
          </a:xfrm>
          <a:prstGeom prst="roundRect">
            <a:avLst>
              <a:gd name="adj" fmla="val 5263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9866376" y="2148840"/>
            <a:ext cx="868680" cy="8686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3546" y="2366010"/>
            <a:ext cx="434340" cy="43434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134856" y="32004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</a:t>
            </a:r>
            <a:endParaRPr lang="en-US" sz="2100" dirty="0"/>
          </a:p>
        </p:txBody>
      </p:sp>
      <p:sp>
        <p:nvSpPr>
          <p:cNvPr id="27" name="Text 20"/>
          <p:cNvSpPr txBox="1"/>
          <p:nvPr/>
        </p:nvSpPr>
        <p:spPr>
          <a:xfrm>
            <a:off x="9180576" y="374904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6D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Tirar a fila do balcão · Dar dados de engajamento para os contratos de concessão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F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09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DIFERENCIAIS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das alternativas</a:t>
            </a:r>
            <a:endParaRPr lang="en-US" sz="3600" dirty="0"/>
          </a:p>
        </p:txBody>
      </p:sp>
      <p:pic>
        <p:nvPicPr>
          <p:cNvPr id="4" name="Image 0" descr="/home/claude/v10/faculfood/assets/faculfood-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2840" y="274320"/>
            <a:ext cx="548640" cy="55778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160520" y="178308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 e pagamento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pelo celular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126480" y="178308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Retirada com horário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o balcão comporta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092440" y="178308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Indicação pelo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gosto do aluno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0058400" y="178308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engajamento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 PUC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3429000"/>
            <a:ext cx="11064240" cy="0"/>
          </a:xfrm>
          <a:prstGeom prst="line">
            <a:avLst/>
          </a:prstGeom>
          <a:noFill/>
          <a:ln w="12700">
            <a:solidFill>
              <a:srgbClr val="E8DED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69748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no balcão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4841748" y="2724912"/>
            <a:ext cx="512064" cy="512064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0620" y="2843784"/>
            <a:ext cx="274320" cy="27432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807708" y="2724912"/>
            <a:ext cx="512064" cy="512064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6580" y="2843784"/>
            <a:ext cx="274320" cy="27432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8773668" y="2724912"/>
            <a:ext cx="512064" cy="512064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2540" y="2843784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10739628" y="2724912"/>
            <a:ext cx="512064" cy="512064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8500" y="2843784"/>
            <a:ext cx="274320" cy="274320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548640" y="4270248"/>
            <a:ext cx="11064240" cy="0"/>
          </a:xfrm>
          <a:prstGeom prst="line">
            <a:avLst/>
          </a:prstGeom>
          <a:noFill/>
          <a:ln w="12700">
            <a:solidFill>
              <a:srgbClr val="E8DED3"/>
            </a:solidFill>
            <a:prstDash val="solid"/>
          </a:ln>
        </p:spPr>
      </p:sp>
      <p:sp>
        <p:nvSpPr>
          <p:cNvPr id="20" name="Text 13"/>
          <p:cNvSpPr txBox="1"/>
          <p:nvPr/>
        </p:nvSpPr>
        <p:spPr>
          <a:xfrm>
            <a:off x="777240" y="353872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de delivery (ex.: iFood)</a:t>
            </a:r>
            <a:endParaRPr lang="en-US" sz="1700" dirty="0"/>
          </a:p>
        </p:txBody>
      </p:sp>
      <p:sp>
        <p:nvSpPr>
          <p:cNvPr id="21" name="Shape 14"/>
          <p:cNvSpPr/>
          <p:nvPr/>
        </p:nvSpPr>
        <p:spPr>
          <a:xfrm>
            <a:off x="4841748" y="3566160"/>
            <a:ext cx="512064" cy="512064"/>
          </a:xfrm>
          <a:prstGeom prst="ellipse">
            <a:avLst/>
          </a:prstGeom>
          <a:solidFill>
            <a:srgbClr val="2FA564"/>
          </a:solidFill>
          <a:ln w="12700">
            <a:solidFill>
              <a:srgbClr val="2FA564"/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0620" y="3685032"/>
            <a:ext cx="274320" cy="274320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6807708" y="3566160"/>
            <a:ext cx="512064" cy="51206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26580" y="3685032"/>
            <a:ext cx="274320" cy="274320"/>
          </a:xfrm>
          <a:prstGeom prst="rect">
            <a:avLst/>
          </a:prstGeom>
        </p:spPr>
      </p:pic>
      <p:sp>
        <p:nvSpPr>
          <p:cNvPr id="25" name="Shape 16"/>
          <p:cNvSpPr/>
          <p:nvPr/>
        </p:nvSpPr>
        <p:spPr>
          <a:xfrm>
            <a:off x="8773668" y="3566160"/>
            <a:ext cx="512064" cy="51206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92540" y="3685032"/>
            <a:ext cx="274320" cy="274320"/>
          </a:xfrm>
          <a:prstGeom prst="rect">
            <a:avLst/>
          </a:prstGeom>
        </p:spPr>
      </p:pic>
      <p:sp>
        <p:nvSpPr>
          <p:cNvPr id="27" name="Shape 17"/>
          <p:cNvSpPr/>
          <p:nvPr/>
        </p:nvSpPr>
        <p:spPr>
          <a:xfrm>
            <a:off x="10739628" y="3566160"/>
            <a:ext cx="512064" cy="512064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58500" y="3685032"/>
            <a:ext cx="274320" cy="274320"/>
          </a:xfrm>
          <a:prstGeom prst="rect">
            <a:avLst/>
          </a:prstGeom>
        </p:spPr>
      </p:pic>
      <p:sp>
        <p:nvSpPr>
          <p:cNvPr id="29" name="Shape 18"/>
          <p:cNvSpPr/>
          <p:nvPr/>
        </p:nvSpPr>
        <p:spPr>
          <a:xfrm>
            <a:off x="548640" y="5111496"/>
            <a:ext cx="11064240" cy="0"/>
          </a:xfrm>
          <a:prstGeom prst="line">
            <a:avLst/>
          </a:prstGeom>
          <a:noFill/>
          <a:ln w="12700">
            <a:solidFill>
              <a:srgbClr val="E8DED3"/>
            </a:solidFill>
            <a:prstDash val="solid"/>
          </a:ln>
        </p:spPr>
      </p:sp>
      <p:sp>
        <p:nvSpPr>
          <p:cNvPr id="30" name="Text 19"/>
          <p:cNvSpPr txBox="1"/>
          <p:nvPr/>
        </p:nvSpPr>
        <p:spPr>
          <a:xfrm>
            <a:off x="777240" y="437997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 por Instagram/WhatsApp</a:t>
            </a:r>
            <a:endParaRPr lang="en-US" sz="1700" dirty="0"/>
          </a:p>
        </p:txBody>
      </p:sp>
      <p:sp>
        <p:nvSpPr>
          <p:cNvPr id="31" name="Shape 20"/>
          <p:cNvSpPr/>
          <p:nvPr/>
        </p:nvSpPr>
        <p:spPr>
          <a:xfrm>
            <a:off x="4841748" y="4407408"/>
            <a:ext cx="512064" cy="51206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60620" y="4526280"/>
            <a:ext cx="274320" cy="274320"/>
          </a:xfrm>
          <a:prstGeom prst="rect">
            <a:avLst/>
          </a:prstGeom>
        </p:spPr>
      </p:pic>
      <p:sp>
        <p:nvSpPr>
          <p:cNvPr id="33" name="Shape 21"/>
          <p:cNvSpPr/>
          <p:nvPr/>
        </p:nvSpPr>
        <p:spPr>
          <a:xfrm>
            <a:off x="6807708" y="4407408"/>
            <a:ext cx="512064" cy="512064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pic>
        <p:nvPicPr>
          <p:cNvPr id="3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26580" y="4526280"/>
            <a:ext cx="274320" cy="274320"/>
          </a:xfrm>
          <a:prstGeom prst="rect">
            <a:avLst/>
          </a:prstGeom>
        </p:spPr>
      </p:pic>
      <p:sp>
        <p:nvSpPr>
          <p:cNvPr id="35" name="Shape 22"/>
          <p:cNvSpPr/>
          <p:nvPr/>
        </p:nvSpPr>
        <p:spPr>
          <a:xfrm>
            <a:off x="8773668" y="4407408"/>
            <a:ext cx="512064" cy="512064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pic>
        <p:nvPicPr>
          <p:cNvPr id="3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92540" y="4526280"/>
            <a:ext cx="274320" cy="274320"/>
          </a:xfrm>
          <a:prstGeom prst="rect">
            <a:avLst/>
          </a:prstGeom>
        </p:spPr>
      </p:pic>
      <p:sp>
        <p:nvSpPr>
          <p:cNvPr id="37" name="Shape 23"/>
          <p:cNvSpPr/>
          <p:nvPr/>
        </p:nvSpPr>
        <p:spPr>
          <a:xfrm>
            <a:off x="10739628" y="4407408"/>
            <a:ext cx="512064" cy="512064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pic>
        <p:nvPicPr>
          <p:cNvPr id="3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858500" y="4526280"/>
            <a:ext cx="274320" cy="274320"/>
          </a:xfrm>
          <a:prstGeom prst="rect">
            <a:avLst/>
          </a:prstGeom>
        </p:spPr>
      </p:pic>
      <p:sp>
        <p:nvSpPr>
          <p:cNvPr id="39" name="Shape 24"/>
          <p:cNvSpPr/>
          <p:nvPr/>
        </p:nvSpPr>
        <p:spPr>
          <a:xfrm>
            <a:off x="548640" y="5111496"/>
            <a:ext cx="11064240" cy="786384"/>
          </a:xfrm>
          <a:prstGeom prst="roundRect">
            <a:avLst>
              <a:gd name="adj" fmla="val 13953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0" name="Text 25"/>
          <p:cNvSpPr txBox="1"/>
          <p:nvPr/>
        </p:nvSpPr>
        <p:spPr>
          <a:xfrm>
            <a:off x="777240" y="522122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FaculFood</a:t>
            </a:r>
            <a:endParaRPr lang="en-US" sz="1700" dirty="0"/>
          </a:p>
        </p:txBody>
      </p:sp>
      <p:sp>
        <p:nvSpPr>
          <p:cNvPr id="41" name="Shape 26"/>
          <p:cNvSpPr/>
          <p:nvPr/>
        </p:nvSpPr>
        <p:spPr>
          <a:xfrm>
            <a:off x="4841748" y="5248656"/>
            <a:ext cx="512064" cy="512064"/>
          </a:xfrm>
          <a:prstGeom prst="ellipse">
            <a:avLst/>
          </a:prstGeom>
          <a:solidFill>
            <a:srgbClr val="2FA564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4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60620" y="5367528"/>
            <a:ext cx="274320" cy="274320"/>
          </a:xfrm>
          <a:prstGeom prst="rect">
            <a:avLst/>
          </a:prstGeom>
        </p:spPr>
      </p:pic>
      <p:sp>
        <p:nvSpPr>
          <p:cNvPr id="43" name="Shape 27"/>
          <p:cNvSpPr/>
          <p:nvPr/>
        </p:nvSpPr>
        <p:spPr>
          <a:xfrm>
            <a:off x="6807708" y="5248656"/>
            <a:ext cx="512064" cy="512064"/>
          </a:xfrm>
          <a:prstGeom prst="ellipse">
            <a:avLst/>
          </a:prstGeom>
          <a:solidFill>
            <a:srgbClr val="2FA564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44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26580" y="5367528"/>
            <a:ext cx="274320" cy="274320"/>
          </a:xfrm>
          <a:prstGeom prst="rect">
            <a:avLst/>
          </a:prstGeom>
        </p:spPr>
      </p:pic>
      <p:sp>
        <p:nvSpPr>
          <p:cNvPr id="45" name="Shape 28"/>
          <p:cNvSpPr/>
          <p:nvPr/>
        </p:nvSpPr>
        <p:spPr>
          <a:xfrm>
            <a:off x="8773668" y="5248656"/>
            <a:ext cx="512064" cy="512064"/>
          </a:xfrm>
          <a:prstGeom prst="ellipse">
            <a:avLst/>
          </a:prstGeom>
          <a:solidFill>
            <a:srgbClr val="2FA564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46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892540" y="5367528"/>
            <a:ext cx="274320" cy="274320"/>
          </a:xfrm>
          <a:prstGeom prst="rect">
            <a:avLst/>
          </a:prstGeom>
        </p:spPr>
      </p:pic>
      <p:sp>
        <p:nvSpPr>
          <p:cNvPr id="47" name="Shape 29"/>
          <p:cNvSpPr/>
          <p:nvPr/>
        </p:nvSpPr>
        <p:spPr>
          <a:xfrm>
            <a:off x="10739628" y="5248656"/>
            <a:ext cx="512064" cy="512064"/>
          </a:xfrm>
          <a:prstGeom prst="ellipse">
            <a:avLst/>
          </a:prstGeom>
          <a:solidFill>
            <a:srgbClr val="2FA564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4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858500" y="5367528"/>
            <a:ext cx="274320" cy="274320"/>
          </a:xfrm>
          <a:prstGeom prst="rect">
            <a:avLst/>
          </a:prstGeom>
        </p:spPr>
      </p:pic>
      <p:sp>
        <p:nvSpPr>
          <p:cNvPr id="49" name="Text 30"/>
          <p:cNvSpPr txBox="1"/>
          <p:nvPr/>
        </p:nvSpPr>
        <p:spPr>
          <a:xfrm>
            <a:off x="548640" y="6172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qualitativa da equipe · verde = atende · amarelo = em parte · vermelho = não atende</a:t>
            </a:r>
            <a:endParaRPr lang="en-US" sz="1100" dirty="0"/>
          </a:p>
        </p:txBody>
      </p:sp>
      <p:sp>
        <p:nvSpPr>
          <p:cNvPr id="50" name="Text 31"/>
          <p:cNvSpPr txBox="1"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F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09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 banca pediu e como respondemos</a:t>
            </a:r>
            <a:endParaRPr lang="en-US" sz="3600" dirty="0"/>
          </a:p>
        </p:txBody>
      </p:sp>
      <p:pic>
        <p:nvPicPr>
          <p:cNvPr id="4" name="Image 0" descr="/home/claude/v10/faculfood/assets/faculfood-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2840" y="274320"/>
            <a:ext cx="548640" cy="5577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828800"/>
            <a:ext cx="5440680" cy="192024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8DED3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22960" y="2103120"/>
            <a:ext cx="731520" cy="7315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286000"/>
            <a:ext cx="365760" cy="3657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21031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Cadastro validado e seguro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1737360" y="2560320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F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aprova cada restaurante · cada loja só vê os próprios dados · senhas com SHA-256 · registro de atividades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172200" y="1828800"/>
            <a:ext cx="5440680" cy="192024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8DED3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446520" y="2103120"/>
            <a:ext cx="731520" cy="7315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28600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360920" y="21031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Avaliação com alunos e restaurantes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7360920" y="2560320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F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no app (NPS + 3 perguntas) e roteiro de teste presencial com 5 alunos e 3 restaurantes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548640" y="3977640"/>
            <a:ext cx="5440680" cy="192024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8DED3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22960" y="4251960"/>
            <a:ext cx="731520" cy="7315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43484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737360" y="42519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Gargalo na retirada</a:t>
            </a:r>
            <a:endParaRPr lang="en-US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1737360" y="4709160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F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por janela de 15 min: horário lotado some do checkout · pico × capacidade no painel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6172200" y="3977640"/>
            <a:ext cx="5440680" cy="192024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8DED3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446520" y="4251960"/>
            <a:ext cx="731520" cy="7315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4434840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360920" y="42519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Engajamento para a concessão</a:t>
            </a:r>
            <a:endParaRPr lang="en-US" sz="1800" dirty="0"/>
          </a:p>
        </p:txBody>
      </p:sp>
      <p:sp>
        <p:nvSpPr>
          <p:cNvPr id="24" name="Text 17"/>
          <p:cNvSpPr txBox="1"/>
          <p:nvPr/>
        </p:nvSpPr>
        <p:spPr>
          <a:xfrm>
            <a:off x="7360920" y="4709160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F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Gestor: ranking por vendas e avaliação, base de restaurantes e clientes, infraestrutura (m²)</a:t>
            </a:r>
            <a:endParaRPr lang="en-US" sz="1400" dirty="0"/>
          </a:p>
        </p:txBody>
      </p:sp>
      <p:sp>
        <p:nvSpPr>
          <p:cNvPr id="25" name="Text 18"/>
          <p:cNvSpPr txBox="1"/>
          <p:nvPr/>
        </p:nvSpPr>
        <p:spPr>
          <a:xfrm>
            <a:off x="548640" y="6172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passo: conversa com Felipe Rangel e coordenação sobre os critérios de engajamento.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F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0"/>
            <a:ext cx="4507992" cy="68580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09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SOLUÇÃO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app FaculFood</a:t>
            </a:r>
            <a:endParaRPr lang="en-US" sz="3600" dirty="0"/>
          </a:p>
        </p:txBody>
      </p:sp>
      <p:pic>
        <p:nvPicPr>
          <p:cNvPr id="5" name="Image 0" descr="/home/claude/scratch/deckshots/mock/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1080" y="502920"/>
            <a:ext cx="3020470" cy="5852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828800"/>
            <a:ext cx="749808" cy="749808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" y="2016252"/>
            <a:ext cx="374904" cy="37490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84708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 por desejo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1508760" y="22402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F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 que comer agora?” mostra tudo do campus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548640" y="2926080"/>
            <a:ext cx="749808" cy="749808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3113532"/>
            <a:ext cx="374904" cy="37490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508760" y="294436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Retirada sem fila</a:t>
            </a:r>
            <a:endParaRPr lang="en-US" sz="2000" dirty="0"/>
          </a:p>
        </p:txBody>
      </p:sp>
      <p:sp>
        <p:nvSpPr>
          <p:cNvPr id="13" name="Text 8"/>
          <p:cNvSpPr txBox="1"/>
          <p:nvPr/>
        </p:nvSpPr>
        <p:spPr>
          <a:xfrm>
            <a:off x="1508760" y="33375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F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Horário que o balcão consegue atender; código e alarme de pronto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548640" y="4023360"/>
            <a:ext cx="749808" cy="749808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" y="4210812"/>
            <a:ext cx="374904" cy="37490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508760" y="404164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Indicação pelo gosto</a:t>
            </a:r>
            <a:endParaRPr lang="en-US" sz="2000" dirty="0"/>
          </a:p>
        </p:txBody>
      </p:sp>
      <p:sp>
        <p:nvSpPr>
          <p:cNvPr id="17" name="Text 11"/>
          <p:cNvSpPr txBox="1"/>
          <p:nvPr/>
        </p:nvSpPr>
        <p:spPr>
          <a:xfrm>
            <a:off x="1508760" y="44348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F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usa as escolhas do aluno sem expor o perfil dele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548640" y="5120640"/>
            <a:ext cx="749808" cy="749808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092" y="5308092"/>
            <a:ext cx="374904" cy="374904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508760" y="513892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para a PUC</a:t>
            </a:r>
            <a:endParaRPr lang="en-US" sz="2000" dirty="0"/>
          </a:p>
        </p:txBody>
      </p:sp>
      <p:sp>
        <p:nvSpPr>
          <p:cNvPr id="21" name="Text 14"/>
          <p:cNvSpPr txBox="1"/>
          <p:nvPr/>
        </p:nvSpPr>
        <p:spPr>
          <a:xfrm>
            <a:off x="1508760" y="55321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F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Engajamento, base de clientes e restaurantes, uso do espaço</a:t>
            </a:r>
            <a:endParaRPr lang="en-US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548640" y="61722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09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Peça, pague e retire. Sem fila.</a:t>
            </a:r>
            <a:endParaRPr lang="en-US" sz="1800" dirty="0"/>
          </a:p>
        </p:txBody>
      </p:sp>
      <p:sp>
        <p:nvSpPr>
          <p:cNvPr id="23" name="Text 16"/>
          <p:cNvSpPr txBox="1"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09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ALINHAMENTO DE ESCOPO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produto É · NÃO É · FAZ · NÃO FAZ</a:t>
            </a:r>
            <a:endParaRPr lang="en-US" sz="3600" dirty="0"/>
          </a:p>
        </p:txBody>
      </p:sp>
      <p:pic>
        <p:nvPicPr>
          <p:cNvPr id="4" name="Image 0" descr="/home/claude/v10/faculfood/assets/faculfood-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2840" y="274320"/>
            <a:ext cx="548640" cy="5577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783080"/>
            <a:ext cx="5440680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8DED3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22960" y="2057400"/>
            <a:ext cx="685800" cy="685800"/>
          </a:xfrm>
          <a:prstGeom prst="ellipse">
            <a:avLst/>
          </a:prstGeom>
          <a:solidFill>
            <a:srgbClr val="2FA564"/>
          </a:solidFill>
          <a:ln w="12700">
            <a:solidFill>
              <a:srgbClr val="2FA564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410" y="2228850"/>
            <a:ext cx="342900" cy="3429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91640" y="2103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</a:t>
            </a:r>
            <a:endParaRPr lang="en-US" sz="2200" dirty="0"/>
          </a:p>
        </p:txBody>
      </p:sp>
      <p:sp>
        <p:nvSpPr>
          <p:cNvPr id="9" name="Text 5"/>
          <p:cNvSpPr txBox="1"/>
          <p:nvPr/>
        </p:nvSpPr>
        <p:spPr>
          <a:xfrm>
            <a:off x="1691640" y="260604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 pedidos para retirada no campus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digital para os restaurantes da PUC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dados para a gestão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172200" y="1783080"/>
            <a:ext cx="5440680" cy="2011680"/>
          </a:xfrm>
          <a:prstGeom prst="roundRect">
            <a:avLst>
              <a:gd name="adj" fmla="val 6818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446520" y="2057400"/>
            <a:ext cx="685800" cy="685800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7970" y="2228850"/>
            <a:ext cx="342900" cy="3429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315200" y="2103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É</a:t>
            </a:r>
            <a:endParaRPr lang="en-US" sz="2200" dirty="0"/>
          </a:p>
        </p:txBody>
      </p:sp>
      <p:sp>
        <p:nvSpPr>
          <p:cNvPr id="14" name="Text 9"/>
          <p:cNvSpPr txBox="1"/>
          <p:nvPr/>
        </p:nvSpPr>
        <p:spPr>
          <a:xfrm>
            <a:off x="7315200" y="260604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D6D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D6D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social de comida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D6D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caixa (PDV) da loja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548640" y="4023360"/>
            <a:ext cx="5440680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8DED3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22960" y="4297680"/>
            <a:ext cx="685800" cy="685800"/>
          </a:xfrm>
          <a:prstGeom prst="ellipse">
            <a:avLst/>
          </a:prstGeom>
          <a:solidFill>
            <a:srgbClr val="2FA564"/>
          </a:solidFill>
          <a:ln w="12700">
            <a:solidFill>
              <a:srgbClr val="2FA564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410" y="4469130"/>
            <a:ext cx="342900" cy="3429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691640" y="43434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</a:t>
            </a:r>
            <a:endParaRPr lang="en-US" sz="2200" dirty="0"/>
          </a:p>
        </p:txBody>
      </p:sp>
      <p:sp>
        <p:nvSpPr>
          <p:cNvPr id="19" name="Text 13"/>
          <p:cNvSpPr txBox="1"/>
          <p:nvPr/>
        </p:nvSpPr>
        <p:spPr>
          <a:xfrm>
            <a:off x="1691640" y="484632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Busca, carrinho, Pix, status colorido, alarme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Estoque, desconto, cardápio por foto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de engajamento e base de dados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6172200" y="4023360"/>
            <a:ext cx="5440680" cy="2011680"/>
          </a:xfrm>
          <a:prstGeom prst="roundRect">
            <a:avLst>
              <a:gd name="adj" fmla="val 6818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446520" y="4297680"/>
            <a:ext cx="685800" cy="685800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7970" y="4469130"/>
            <a:ext cx="342900" cy="34290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315200" y="43434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FAZ</a:t>
            </a:r>
            <a:endParaRPr lang="en-US" sz="2200" dirty="0"/>
          </a:p>
        </p:txBody>
      </p:sp>
      <p:sp>
        <p:nvSpPr>
          <p:cNvPr id="24" name="Text 17"/>
          <p:cNvSpPr txBox="1"/>
          <p:nvPr/>
        </p:nvSpPr>
        <p:spPr>
          <a:xfrm>
            <a:off x="7315200" y="484632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D6D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D6D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Confirmação automática do Pix (exige banco)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D6D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Envio automático no WhatsApp (exige API)</a:t>
            </a:r>
            <a:endParaRPr lang="en-US" sz="1500" dirty="0"/>
          </a:p>
        </p:txBody>
      </p:sp>
      <p:sp>
        <p:nvSpPr>
          <p:cNvPr id="25" name="Text 18"/>
          <p:cNvSpPr txBox="1"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F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20840" y="0"/>
            <a:ext cx="5468112" cy="68580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Funcionalidades do app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Responsivo: celular e computador · instalável na tela inicial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9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quem come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640080" cy="64008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2491740"/>
            <a:ext cx="320040" cy="3200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98448" y="23317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comer agora?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3291840"/>
            <a:ext cx="640080" cy="64008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" y="345186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98448" y="32918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 pelo seu gosto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48640" y="4251960"/>
            <a:ext cx="640080" cy="64008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441198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98448" y="42519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 e Mercado Pago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548640" y="5212080"/>
            <a:ext cx="640080" cy="64008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" y="537210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298448" y="52120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colorido + alarme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3657600" y="1783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9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quem vende</a:t>
            </a:r>
            <a:endParaRPr lang="en-US" sz="1700" dirty="0"/>
          </a:p>
        </p:txBody>
      </p:sp>
      <p:sp>
        <p:nvSpPr>
          <p:cNvPr id="19" name="Shape 13"/>
          <p:cNvSpPr/>
          <p:nvPr/>
        </p:nvSpPr>
        <p:spPr>
          <a:xfrm>
            <a:off x="3657600" y="2331720"/>
            <a:ext cx="640080" cy="64008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7620" y="249174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4407408" y="23317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Itens à venda e estoque</a:t>
            </a:r>
            <a:endParaRPr lang="en-US" sz="1500" dirty="0"/>
          </a:p>
        </p:txBody>
      </p:sp>
      <p:sp>
        <p:nvSpPr>
          <p:cNvPr id="22" name="Shape 15"/>
          <p:cNvSpPr/>
          <p:nvPr/>
        </p:nvSpPr>
        <p:spPr>
          <a:xfrm>
            <a:off x="3657600" y="3291840"/>
            <a:ext cx="640080" cy="64008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7620" y="3451860"/>
            <a:ext cx="320040" cy="32004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4407408" y="32918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Cardápio por foto</a:t>
            </a:r>
            <a:endParaRPr lang="en-US" sz="1500" dirty="0"/>
          </a:p>
        </p:txBody>
      </p:sp>
      <p:sp>
        <p:nvSpPr>
          <p:cNvPr id="25" name="Shape 17"/>
          <p:cNvSpPr/>
          <p:nvPr/>
        </p:nvSpPr>
        <p:spPr>
          <a:xfrm>
            <a:off x="3657600" y="4251960"/>
            <a:ext cx="640080" cy="64008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7620" y="4411980"/>
            <a:ext cx="320040" cy="320040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4407408" y="42519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Desconto por item</a:t>
            </a:r>
            <a:endParaRPr lang="en-US" sz="1500" dirty="0"/>
          </a:p>
        </p:txBody>
      </p:sp>
      <p:sp>
        <p:nvSpPr>
          <p:cNvPr id="28" name="Shape 19"/>
          <p:cNvSpPr/>
          <p:nvPr/>
        </p:nvSpPr>
        <p:spPr>
          <a:xfrm>
            <a:off x="3657600" y="5212080"/>
            <a:ext cx="640080" cy="64008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7620" y="5372100"/>
            <a:ext cx="320040" cy="320040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4407408" y="52120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Itens e horário de pico</a:t>
            </a:r>
            <a:endParaRPr lang="en-US" sz="1500" dirty="0"/>
          </a:p>
        </p:txBody>
      </p:sp>
      <p:pic>
        <p:nvPicPr>
          <p:cNvPr id="31" name="Image 8" descr="/home/claude/scratch/deckshots/mock/acompanh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95160" y="777240"/>
            <a:ext cx="2170963" cy="4206240"/>
          </a:xfrm>
          <a:prstGeom prst="rect">
            <a:avLst/>
          </a:prstGeom>
        </p:spPr>
      </p:pic>
      <p:pic>
        <p:nvPicPr>
          <p:cNvPr id="32" name="Image 9" descr="/home/claude/scratch/deckshots/mock/pix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26880" y="777240"/>
            <a:ext cx="2170963" cy="4206240"/>
          </a:xfrm>
          <a:prstGeom prst="rect">
            <a:avLst/>
          </a:prstGeom>
        </p:spPr>
      </p:pic>
      <p:sp>
        <p:nvSpPr>
          <p:cNvPr id="33" name="Text 21"/>
          <p:cNvSpPr txBox="1"/>
          <p:nvPr/>
        </p:nvSpPr>
        <p:spPr>
          <a:xfrm>
            <a:off x="6995160" y="5074920"/>
            <a:ext cx="216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Acompanhar</a:t>
            </a:r>
            <a:endParaRPr lang="en-US" sz="1300" dirty="0"/>
          </a:p>
        </p:txBody>
      </p:sp>
      <p:sp>
        <p:nvSpPr>
          <p:cNvPr id="34" name="Text 22"/>
          <p:cNvSpPr txBox="1"/>
          <p:nvPr/>
        </p:nvSpPr>
        <p:spPr>
          <a:xfrm>
            <a:off x="9326880" y="5074920"/>
            <a:ext cx="216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 com QR</a:t>
            </a:r>
            <a:endParaRPr lang="en-US" sz="1300" dirty="0"/>
          </a:p>
        </p:txBody>
      </p:sp>
      <p:sp>
        <p:nvSpPr>
          <p:cNvPr id="35" name="Text 23"/>
          <p:cNvSpPr txBox="1"/>
          <p:nvPr/>
        </p:nvSpPr>
        <p:spPr>
          <a:xfrm>
            <a:off x="6995160" y="56692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 PUC: ranking de engajamento, bases de restaurantes e clientes, infraestrutura</a:t>
            </a:r>
            <a:endParaRPr lang="en-US" sz="1300" dirty="0"/>
          </a:p>
        </p:txBody>
      </p:sp>
      <p:sp>
        <p:nvSpPr>
          <p:cNvPr id="36" name="Text 24"/>
          <p:cNvSpPr txBox="1"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do app</a:t>
            </a:r>
            <a:endParaRPr lang="en-US" sz="3600" dirty="0"/>
          </a:p>
        </p:txBody>
      </p:sp>
      <p:pic>
        <p:nvPicPr>
          <p:cNvPr id="3" name="Image 0" descr="/home/claude/v10/faculfood/assets/faculfood-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2840" y="274320"/>
            <a:ext cx="548640" cy="55778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1828800"/>
            <a:ext cx="2606040" cy="35661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8DED3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822960" y="2103120"/>
            <a:ext cx="685800" cy="685800"/>
          </a:xfrm>
          <a:prstGeom prst="ellipse">
            <a:avLst/>
          </a:prstGeom>
          <a:solidFill>
            <a:srgbClr val="F3EBE3"/>
          </a:solidFill>
          <a:ln w="12700">
            <a:solidFill>
              <a:srgbClr val="F3EBE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2103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148840"/>
            <a:ext cx="594360" cy="5943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22960" y="3063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</a:t>
            </a:r>
            <a:endParaRPr lang="en-US" sz="22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361188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F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ou cadastro com e-mail. Já cai em “O que comer agora?”.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3364992" y="1828800"/>
            <a:ext cx="2606040" cy="3566160"/>
          </a:xfrm>
          <a:prstGeom prst="roundRect">
            <a:avLst>
              <a:gd name="adj" fmla="val 5263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639312" y="2103120"/>
            <a:ext cx="685800" cy="6858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3639312" y="2103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2352" y="2148840"/>
            <a:ext cx="594360" cy="5943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639312" y="3063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Escolhe</a:t>
            </a:r>
            <a:endParaRPr lang="en-US" sz="2200" dirty="0"/>
          </a:p>
        </p:txBody>
      </p:sp>
      <p:sp>
        <p:nvSpPr>
          <p:cNvPr id="15" name="Text 10"/>
          <p:cNvSpPr txBox="1"/>
          <p:nvPr/>
        </p:nvSpPr>
        <p:spPr>
          <a:xfrm>
            <a:off x="3639312" y="361188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6D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por texto ou voz, indicações pelo gosto, promoções. O carrinho começa em 0.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181344" y="1828800"/>
            <a:ext cx="2606040" cy="35661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8DED3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455664" y="2103120"/>
            <a:ext cx="685800" cy="685800"/>
          </a:xfrm>
          <a:prstGeom prst="ellipse">
            <a:avLst/>
          </a:prstGeom>
          <a:solidFill>
            <a:srgbClr val="F3EBE3"/>
          </a:solidFill>
          <a:ln w="12700">
            <a:solidFill>
              <a:srgbClr val="F3EBE3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6455664" y="2103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8704" y="2148840"/>
            <a:ext cx="594360" cy="59436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455664" y="3063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Paga</a:t>
            </a:r>
            <a:endParaRPr lang="en-US" sz="2200" dirty="0"/>
          </a:p>
        </p:txBody>
      </p:sp>
      <p:sp>
        <p:nvSpPr>
          <p:cNvPr id="21" name="Text 15"/>
          <p:cNvSpPr txBox="1"/>
          <p:nvPr/>
        </p:nvSpPr>
        <p:spPr>
          <a:xfrm>
            <a:off x="6455664" y="361188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F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 com QR do Banco Central, Mercado Pago ou no balcão, com horário de retirada.</a:t>
            </a:r>
            <a:endParaRPr lang="en-US" sz="1500" dirty="0"/>
          </a:p>
        </p:txBody>
      </p:sp>
      <p:sp>
        <p:nvSpPr>
          <p:cNvPr id="22" name="Shape 16"/>
          <p:cNvSpPr/>
          <p:nvPr/>
        </p:nvSpPr>
        <p:spPr>
          <a:xfrm>
            <a:off x="8997696" y="1828800"/>
            <a:ext cx="2606040" cy="3566160"/>
          </a:xfrm>
          <a:prstGeom prst="roundRect">
            <a:avLst>
              <a:gd name="adj" fmla="val 5263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9272016" y="2103120"/>
            <a:ext cx="685800" cy="6858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9272016" y="2103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35056" y="2148840"/>
            <a:ext cx="594360" cy="5943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272016" y="3063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Retira</a:t>
            </a:r>
            <a:endParaRPr lang="en-US" sz="2200" dirty="0"/>
          </a:p>
        </p:txBody>
      </p:sp>
      <p:sp>
        <p:nvSpPr>
          <p:cNvPr id="27" name="Text 20"/>
          <p:cNvSpPr txBox="1"/>
          <p:nvPr/>
        </p:nvSpPr>
        <p:spPr>
          <a:xfrm>
            <a:off x="9272016" y="361188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6D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 o status por cores, o alarme toca no pronto e avalia depois.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F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09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ACOMPANHAR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pedido ao alarme: status por cores</a:t>
            </a:r>
            <a:endParaRPr lang="en-US" sz="3600" dirty="0"/>
          </a:p>
        </p:txBody>
      </p:sp>
      <p:pic>
        <p:nvPicPr>
          <p:cNvPr id="4" name="Image 0" descr="/home/claude/v10/faculfood/assets/faculfood-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2840" y="274320"/>
            <a:ext cx="548640" cy="5577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938528"/>
            <a:ext cx="457200" cy="457200"/>
          </a:xfrm>
          <a:prstGeom prst="ellipse">
            <a:avLst/>
          </a:prstGeom>
          <a:solidFill>
            <a:srgbClr val="8A929C"/>
          </a:solidFill>
          <a:ln w="12700">
            <a:solidFill>
              <a:srgbClr val="8A929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188720" y="182880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confirmado  </a:t>
            </a:r>
            <a:pPr indent="0" marL="0">
              <a:buNone/>
            </a:pPr>
            <a:r>
              <a:rPr lang="en-US" sz="1500" dirty="0">
                <a:solidFill>
                  <a:srgbClr val="6F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 enviado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48640" y="2898648"/>
            <a:ext cx="457200" cy="457200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188720" y="278892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fila  </a:t>
            </a:r>
            <a:pPr indent="0" marL="0">
              <a:buNone/>
            </a:pPr>
            <a:r>
              <a:rPr lang="en-US" sz="1500" dirty="0">
                <a:solidFill>
                  <a:srgbClr val="6F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e confirmado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548640" y="3858768"/>
            <a:ext cx="457200" cy="457200"/>
          </a:xfrm>
          <a:prstGeom prst="ellipse">
            <a:avLst/>
          </a:prstGeom>
          <a:solidFill>
            <a:srgbClr val="E0A800"/>
          </a:solidFill>
          <a:ln w="12700">
            <a:solidFill>
              <a:srgbClr val="E0A80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188720" y="374904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preparo  </a:t>
            </a:r>
            <a:pPr indent="0" marL="0">
              <a:buNone/>
            </a:pPr>
            <a:r>
              <a:rPr lang="en-US" sz="1500" dirty="0">
                <a:solidFill>
                  <a:srgbClr val="6F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loja começou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548640" y="4818888"/>
            <a:ext cx="457200" cy="457200"/>
          </a:xfrm>
          <a:prstGeom prst="ellipse">
            <a:avLst/>
          </a:prstGeom>
          <a:solidFill>
            <a:srgbClr val="2FA564"/>
          </a:solidFill>
          <a:ln w="12700">
            <a:solidFill>
              <a:srgbClr val="2FA56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188720" y="470916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Pronto  </a:t>
            </a:r>
            <a:pPr indent="0" marL="0">
              <a:buNone/>
            </a:pPr>
            <a:r>
              <a:rPr lang="en-US" sz="1500" dirty="0">
                <a:solidFill>
                  <a:srgbClr val="6F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alarme toca no celular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571500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loja move o pedido no quadro; o cliente vê a mesma cor na aba Acompanhar e recebe o aviso no WhatsApp.</a:t>
            </a:r>
            <a:endParaRPr lang="en-US" sz="1400" dirty="0"/>
          </a:p>
        </p:txBody>
      </p:sp>
      <p:pic>
        <p:nvPicPr>
          <p:cNvPr id="14" name="Image 1" descr="/home/claude/scratch/deckshots/mock/loja-kanb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63040"/>
            <a:ext cx="2406937" cy="4663440"/>
          </a:xfrm>
          <a:prstGeom prst="rect">
            <a:avLst/>
          </a:prstGeom>
        </p:spPr>
      </p:pic>
      <p:pic>
        <p:nvPicPr>
          <p:cNvPr id="15" name="Image 2" descr="/home/claude/scratch/deckshots/mock/alarm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0" y="1463040"/>
            <a:ext cx="2406937" cy="46634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675120" y="6172200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Restaurante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9281160" y="6172200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F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do cliente</a:t>
            </a:r>
            <a:endParaRPr lang="en-US" sz="3000" dirty="0"/>
          </a:p>
        </p:txBody>
      </p:sp>
      <p:pic>
        <p:nvPicPr>
          <p:cNvPr id="3" name="Image 0" descr="/home/claude/v10/faculfood/assets/faculfood-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2840" y="274320"/>
            <a:ext cx="548640" cy="557784"/>
          </a:xfrm>
          <a:prstGeom prst="rect">
            <a:avLst/>
          </a:prstGeom>
        </p:spPr>
      </p:pic>
      <p:pic>
        <p:nvPicPr>
          <p:cNvPr id="4" name="Image 1" descr="/home/claude/scratch/deckshots/mock/ho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1188720"/>
            <a:ext cx="2501326" cy="48463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417320" y="6126480"/>
            <a:ext cx="250070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</a:t>
            </a:r>
            <a:endParaRPr lang="en-US" sz="1500" dirty="0"/>
          </a:p>
        </p:txBody>
      </p:sp>
      <p:pic>
        <p:nvPicPr>
          <p:cNvPr id="6" name="Image 2" descr="/home/claude/scratch/deckshots/mock/cardapi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188720"/>
            <a:ext cx="2501326" cy="484632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4846320" y="6126480"/>
            <a:ext cx="250070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Cardápio</a:t>
            </a:r>
            <a:endParaRPr lang="en-US" sz="1500" dirty="0"/>
          </a:p>
        </p:txBody>
      </p:sp>
      <p:pic>
        <p:nvPicPr>
          <p:cNvPr id="8" name="Image 3" descr="/home/claude/scratch/deckshots/mock/acompanh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1188720"/>
            <a:ext cx="2501326" cy="4846320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8275320" y="6126480"/>
            <a:ext cx="250070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Acompanhar</a:t>
            </a:r>
            <a:endParaRPr lang="en-US" sz="1500" dirty="0"/>
          </a:p>
        </p:txBody>
      </p:sp>
      <p:sp>
        <p:nvSpPr>
          <p:cNvPr id="10" name="Text 4"/>
          <p:cNvSpPr txBox="1"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F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do restaurante</a:t>
            </a:r>
            <a:endParaRPr lang="en-US" sz="3000" dirty="0"/>
          </a:p>
        </p:txBody>
      </p:sp>
      <p:pic>
        <p:nvPicPr>
          <p:cNvPr id="3" name="Image 0" descr="/home/claude/v10/faculfood/assets/faculfood-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2840" y="274320"/>
            <a:ext cx="548640" cy="557784"/>
          </a:xfrm>
          <a:prstGeom prst="rect">
            <a:avLst/>
          </a:prstGeom>
        </p:spPr>
      </p:pic>
      <p:pic>
        <p:nvPicPr>
          <p:cNvPr id="4" name="Image 1" descr="/home/claude/scratch/deckshots/mock/loja-ite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1188720"/>
            <a:ext cx="2501326" cy="48463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417320" y="6126480"/>
            <a:ext cx="250070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Itens à venda</a:t>
            </a:r>
            <a:endParaRPr lang="en-US" sz="1500" dirty="0"/>
          </a:p>
        </p:txBody>
      </p:sp>
      <p:pic>
        <p:nvPicPr>
          <p:cNvPr id="6" name="Image 2" descr="/home/claude/scratch/deckshots/mock/loja-kanb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188720"/>
            <a:ext cx="2501326" cy="484632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4846320" y="6126480"/>
            <a:ext cx="250070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</a:t>
            </a:r>
            <a:endParaRPr lang="en-US" sz="1500" dirty="0"/>
          </a:p>
        </p:txBody>
      </p:sp>
      <p:pic>
        <p:nvPicPr>
          <p:cNvPr id="8" name="Image 3" descr="/home/claude/scratch/deckshots/mock/loja-resultado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1188720"/>
            <a:ext cx="2501326" cy="4846320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8275320" y="6126480"/>
            <a:ext cx="250070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500" dirty="0"/>
          </a:p>
        </p:txBody>
      </p:sp>
      <p:sp>
        <p:nvSpPr>
          <p:cNvPr id="10" name="Text 4"/>
          <p:cNvSpPr txBox="1"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F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do gestor (PUC-Rio)</a:t>
            </a:r>
            <a:endParaRPr lang="en-US" sz="3000" dirty="0"/>
          </a:p>
        </p:txBody>
      </p:sp>
      <p:pic>
        <p:nvPicPr>
          <p:cNvPr id="3" name="Image 0" descr="/home/claude/v10/faculfood/assets/faculfood-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2840" y="274320"/>
            <a:ext cx="548640" cy="557784"/>
          </a:xfrm>
          <a:prstGeom prst="rect">
            <a:avLst/>
          </a:prstGeom>
        </p:spPr>
      </p:pic>
      <p:pic>
        <p:nvPicPr>
          <p:cNvPr id="4" name="Image 1" descr="/home/claude/scratch/deckshots/mock/gestor-engajament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1188720"/>
            <a:ext cx="2501326" cy="48463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417320" y="6126480"/>
            <a:ext cx="250070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Engajamento</a:t>
            </a:r>
            <a:endParaRPr lang="en-US" sz="1500" dirty="0"/>
          </a:p>
        </p:txBody>
      </p:sp>
      <p:pic>
        <p:nvPicPr>
          <p:cNvPr id="6" name="Image 2" descr="/home/claude/scratch/deckshots/mock/gestor-restaurant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188720"/>
            <a:ext cx="2501326" cy="484632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4846320" y="6126480"/>
            <a:ext cx="250070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restaurantes</a:t>
            </a:r>
            <a:endParaRPr lang="en-US" sz="1500" dirty="0"/>
          </a:p>
        </p:txBody>
      </p:sp>
      <p:pic>
        <p:nvPicPr>
          <p:cNvPr id="8" name="Image 3" descr="/home/claude/scratch/deckshots/mock/gestor-infr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1188720"/>
            <a:ext cx="2501326" cy="4846320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8275320" y="6126480"/>
            <a:ext cx="250070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</a:t>
            </a:r>
            <a:endParaRPr lang="en-US" sz="1500" dirty="0"/>
          </a:p>
        </p:txBody>
      </p:sp>
      <p:sp>
        <p:nvSpPr>
          <p:cNvPr id="10" name="Text 4"/>
          <p:cNvSpPr txBox="1"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F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09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PRÓXIMA SPRINT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falta para o piloto real</a:t>
            </a:r>
            <a:endParaRPr lang="en-US" sz="3600" dirty="0"/>
          </a:p>
        </p:txBody>
      </p:sp>
      <p:pic>
        <p:nvPicPr>
          <p:cNvPr id="4" name="Image 0" descr="/home/claude/v10/faculfood/assets/faculfood-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2840" y="274320"/>
            <a:ext cx="548640" cy="5577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828800"/>
            <a:ext cx="5440680" cy="393192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E8DED3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22960" y="2103120"/>
            <a:ext cx="685800" cy="685800"/>
          </a:xfrm>
          <a:prstGeom prst="ellipse">
            <a:avLst/>
          </a:prstGeom>
          <a:solidFill>
            <a:srgbClr val="2FA564"/>
          </a:solidFill>
          <a:ln w="12700">
            <a:solidFill>
              <a:srgbClr val="2FA564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410" y="2274570"/>
            <a:ext cx="342900" cy="3429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91640" y="21945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 hoje</a:t>
            </a:r>
            <a:endParaRPr lang="en-US" sz="22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2926080"/>
            <a:ext cx="4846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 → loja → status → alarme, no mesmo aparelho (duas abas)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 com QR válido e Mercado Pago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Cardápio por foto, estoque e desconto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do gestor com bases e engajamento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6172200" y="1828800"/>
            <a:ext cx="5440680" cy="3931920"/>
          </a:xfrm>
          <a:prstGeom prst="roundRect">
            <a:avLst>
              <a:gd name="adj" fmla="val 3488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446520" y="2103120"/>
            <a:ext cx="685800" cy="6858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7970" y="2274570"/>
            <a:ext cx="342900" cy="3429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315200" y="21945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o piloto</a:t>
            </a:r>
            <a:endParaRPr lang="en-US" sz="2200" dirty="0"/>
          </a:p>
        </p:txBody>
      </p:sp>
      <p:sp>
        <p:nvSpPr>
          <p:cNvPr id="14" name="Text 9"/>
          <p:cNvSpPr txBox="1"/>
          <p:nvPr/>
        </p:nvSpPr>
        <p:spPr>
          <a:xfrm>
            <a:off x="6537960" y="2926080"/>
            <a:ext cx="4846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D6D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 (Supabase) para cliente e loja em celulares diferentes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D6D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do banco para confirmar o Pix sozinho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D6D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Cloud API para avisar sem toque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D6D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com 5 alunos e 3 restaurantes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F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112745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Obrigado!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10312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Pela sua atenção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956048" y="3108960"/>
            <a:ext cx="2286000" cy="2286000"/>
          </a:xfrm>
          <a:prstGeom prst="roundRect">
            <a:avLst>
              <a:gd name="adj" fmla="val 12000"/>
            </a:avLst>
          </a:prstGeom>
          <a:solidFill>
            <a:srgbClr val="FBF6F2"/>
          </a:solidFill>
          <a:ln w="12700">
            <a:solidFill>
              <a:srgbClr val="FBF6F2"/>
            </a:solidFill>
            <a:prstDash val="solid"/>
          </a:ln>
        </p:spPr>
      </p:sp>
      <p:pic>
        <p:nvPicPr>
          <p:cNvPr id="5" name="Image 0" descr="/home/claude/v10/faculfood/assets/faculfood-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3200400"/>
            <a:ext cx="2048256" cy="20848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576072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FaculFood · Peça, pague e retire. Sem fila.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FaculFood — Sprint</dc:title>
  <dc:subject>PptxGenJS Presentation</dc:subject>
  <dc:creator>PptxGenJS</dc:creator>
  <cp:lastModifiedBy>PptxGenJS</cp:lastModifiedBy>
  <cp:revision>1</cp:revision>
  <dcterms:created xsi:type="dcterms:W3CDTF">2026-10-01T01:02:06Z</dcterms:created>
  <dcterms:modified xsi:type="dcterms:W3CDTF">2026-10-01T01:02:06Z</dcterms:modified>
</cp:coreProperties>
</file>